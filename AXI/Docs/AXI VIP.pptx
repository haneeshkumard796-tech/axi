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0" r:id="rId4"/>
    <p:sldId id="262" r:id="rId5"/>
    <p:sldId id="272" r:id="rId6"/>
    <p:sldId id="271" r:id="rId7"/>
    <p:sldId id="263" r:id="rId8"/>
    <p:sldId id="264" r:id="rId9"/>
    <p:sldId id="274" r:id="rId10"/>
    <p:sldId id="267" r:id="rId11"/>
    <p:sldId id="268" r:id="rId12"/>
    <p:sldId id="269" r:id="rId13"/>
    <p:sldId id="270" r:id="rId14"/>
    <p:sldId id="273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2"/>
    <p:restoredTop sz="94617"/>
  </p:normalViewPr>
  <p:slideViewPr>
    <p:cSldViewPr snapToGrid="0">
      <p:cViewPr varScale="1">
        <p:scale>
          <a:sx n="100" d="100"/>
          <a:sy n="100" d="100"/>
        </p:scale>
        <p:origin x="11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283-279D-D3F8-44BB-8A5945394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947CC-4081-5FA1-7835-AA2738A35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E63D-FE9A-E6AB-FF85-048F7C21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33A18-FCC4-2980-62D6-84DA497F2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A4D4F-CA94-A9C0-B4CC-C0042D4D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2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D8DC-0608-C4D1-202E-98DEA888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1A6D-B664-C2DA-ED6B-7ADEEB93E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77AB-C139-FACE-893D-49DCBB2D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569B0-EAE4-9042-B943-560E3D57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40DB0-CF4C-01F9-D98B-9D9E3002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6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2A81-8007-D24A-F7DA-94DDCEF2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8AF28-7932-A21B-0E2F-9B0E95A71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09C0-DFC2-586C-758A-AE58C935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A1CA-6644-9A7D-1D78-BC4603B8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9D217-9395-C88B-C2D2-1868598F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3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B2B3-4BA0-03C9-3FF5-7AC1A6BE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1BF-C976-8A0F-FFFA-1EABC7B7E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43E05-F1A5-CDBC-27B6-E88539187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3BB15-48D8-66EC-1CB9-DB7C8BAF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DE077-987C-BDD0-2BB1-43BA24B0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7480D-A69A-5C8F-8294-DFE4C84B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0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56DA-671D-F33F-D752-7F3A98D0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AAA50-48A1-5DDC-621D-821E106B9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A49EC-D030-50F3-C688-50DBDB1CD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247CDD-2915-8FFE-F5B5-9DC2B3DB4B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FC622-6030-12A7-50ED-5228FE5E7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77794-DE82-A84A-DC70-8FEC807B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E13D0F-D637-C15A-77B0-0B65A924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C392D0-8DA5-950D-E799-CEF5D1A5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9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551AC-A3E1-9F6E-5174-26311B4F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73ABD-6F29-C009-0C85-CB1D2A66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E23E6-4E83-3AFE-1238-1D28E479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B8194-4D27-D6E8-7568-8257D697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3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48A7A-1AD9-A2D5-2D55-C7A3DEA6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22DA2-81D6-3DF7-ADA0-31D5C0A4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2B71B-B1CC-D5A1-72AC-6D09E2B2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74C5-2BE8-30E9-1B8C-40C7E355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BBCF4-68C1-EEFD-16BE-7D0D442D4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3CE7E-6E37-5127-AA29-E23238A7B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6C5E3-0FB5-81BB-9938-6F6BB5BBA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99692-7E6A-DF62-D388-4AA21ABF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00430-2D26-EB19-2503-ACC016BE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8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4CB-DBE9-AB17-A3E7-B4F97114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710495-95B5-EB35-1C06-DD3158C3D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18940-2789-230B-F2E7-63B483A15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BF402-D10A-01D3-96EB-DB344CC2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CD5DE-1B3E-FF6F-3D02-411903076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4AED7-0E2C-4A71-2D52-CAC4605C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1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03E7D-F64B-0649-E990-18ADD78F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413CA-6ABA-2D12-B99C-74322D31D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63C57-6C68-AC29-CF50-623D19C2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4BBA3-CBB7-6029-3966-65B32F69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109F1-EA1D-17EC-5EFE-CC641DB2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3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22EBD6-049A-C02D-6C91-FA2BC9698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3D00E2-C758-B9B0-AA97-03B0B2D3C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14B10-BAF5-3F5F-E194-4102830B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84FB-CFF3-4EE7-7FFA-5416C7A4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3991F-34E6-F123-FCF6-D35CDA42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04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7CD92-7CD6-EB37-9BC8-B91B26A3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688EF-A2E4-0113-B954-57C2DB1FE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10871-8C19-8957-2AD7-FD5FAE998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DFFFF-31C1-9D4C-AEE9-FD076C4D289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C4D04-0392-C1F8-08B1-ECD94D78A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55464-0C04-7B00-AAFA-ED1EE8E98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F89A1-1652-A14B-9883-DAE2B15D4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FB7B-E644-8A5E-8F65-23B07F4A68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AXI VIP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69384-0F7D-D341-8A54-356E2AA4C3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B5309-F383-7318-4D13-64B50F692B50}"/>
              </a:ext>
            </a:extLst>
          </p:cNvPr>
          <p:cNvSpPr txBox="1"/>
          <p:nvPr/>
        </p:nvSpPr>
        <p:spPr>
          <a:xfrm>
            <a:off x="0" y="53721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BY HANEESH KUMAR D</a:t>
            </a:r>
          </a:p>
          <a:p>
            <a:pPr algn="r"/>
            <a:r>
              <a:rPr lang="en-US" dirty="0"/>
              <a:t>RN 123</a:t>
            </a:r>
          </a:p>
        </p:txBody>
      </p:sp>
    </p:spTree>
    <p:extLst>
      <p:ext uri="{BB962C8B-B14F-4D97-AF65-F5344CB8AC3E}">
        <p14:creationId xmlns:p14="http://schemas.microsoft.com/office/powerpoint/2010/main" val="400449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79CF8-D81B-7D05-9765-586E2BA5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BFBD4CB-FF3C-E8C5-20B6-248FD8E6E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1C68AE-64A8-0F91-9170-A68922119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4C76D8E-D0C3-5D37-66DD-836EE8FCF0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E7D69A0-B8F7-95E2-A64F-199EE8EAE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861996-AB87-3152-FCD7-16A816F15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50B800-673F-24E5-EA90-FC9D31CBF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 to AXI Protocol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A6A8BB-5AFD-0796-8D97-41408BD3F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3900" cy="4351338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Communication Protocol of the AMBA family, released by arm for high performance IPs such as Processor and memory units. </a:t>
            </a:r>
          </a:p>
          <a:p>
            <a:r>
              <a:rPr lang="en-US" sz="2400" dirty="0"/>
              <a:t>Burst based protocol, supporting three types of transactions such as Fixed, Increment and Wrap.</a:t>
            </a:r>
          </a:p>
          <a:p>
            <a:r>
              <a:rPr lang="en-US" sz="2400" dirty="0"/>
              <a:t> The protocol is implemented by means of 5 channels, namely Write Address (AW), Write Data (W), Write Response (B), Read Address (AR) and Read Data/Response (R).</a:t>
            </a:r>
          </a:p>
          <a:p>
            <a:r>
              <a:rPr lang="en-US" sz="2400" dirty="0"/>
              <a:t>Each Channel makes use of a handshake mechanism to facilitate data transfer.</a:t>
            </a:r>
          </a:p>
        </p:txBody>
      </p:sp>
      <p:pic>
        <p:nvPicPr>
          <p:cNvPr id="8" name="Picture 7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131A1EC0-2FBD-DB8B-935E-21910FD4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16" t="9326" r="5416" b="9898"/>
          <a:stretch/>
        </p:blipFill>
        <p:spPr>
          <a:xfrm>
            <a:off x="6642100" y="2228850"/>
            <a:ext cx="5394960" cy="2627959"/>
          </a:xfrm>
          <a:prstGeom prst="rect">
            <a:avLst/>
          </a:prstGeom>
          <a:ln w="317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1261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4066C5-83D5-0C0A-3706-601EDB13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Handshake Mechanism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BFA615-0906-4FFB-2644-9087D8DF3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en-US" sz="2000" dirty="0">
                <a:cs typeface="Times New Roman" panose="02020603050405020304" pitchFamily="18" charset="0"/>
              </a:rPr>
              <a:t>Case 1 : Ready asserted before valid. Handshake completed @ 4 clock cycle.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Case 2 : Ready asserted after valid. Handshake completed @ 4 clock cycle.</a:t>
            </a:r>
          </a:p>
          <a:p>
            <a:r>
              <a:rPr lang="en-US" sz="2000" dirty="0">
                <a:cs typeface="Times New Roman" panose="02020603050405020304" pitchFamily="18" charset="0"/>
              </a:rPr>
              <a:t>Case 3 : Ready asserted with valid. Handshake completed @ 4 clock cycle.</a:t>
            </a:r>
          </a:p>
          <a:p>
            <a:endParaRPr lang="en-US" sz="2000" dirty="0">
              <a:cs typeface="Times New Roman" panose="02020603050405020304" pitchFamily="18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FF94315-2E33-38E3-6811-569B998E90A0}"/>
              </a:ext>
            </a:extLst>
          </p:cNvPr>
          <p:cNvGrpSpPr/>
          <p:nvPr/>
        </p:nvGrpSpPr>
        <p:grpSpPr>
          <a:xfrm>
            <a:off x="15240" y="1828800"/>
            <a:ext cx="12161520" cy="2654576"/>
            <a:chOff x="15240" y="1828800"/>
            <a:chExt cx="12161520" cy="2654576"/>
          </a:xfrm>
        </p:grpSpPr>
        <p:pic>
          <p:nvPicPr>
            <p:cNvPr id="7" name="Picture 6" descr="A diagram of a graph&#10;&#10;Description automatically generated">
              <a:extLst>
                <a:ext uri="{FF2B5EF4-FFF2-40B4-BE49-F238E27FC236}">
                  <a16:creationId xmlns:a16="http://schemas.microsoft.com/office/drawing/2014/main" id="{00B558E1-B27C-2A76-FB1E-3D06655A7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" y="1829921"/>
              <a:ext cx="4053840" cy="22093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Content Placeholder 4" descr="A diagram of a graph&#10;&#10;Description automatically generated">
              <a:extLst>
                <a:ext uri="{FF2B5EF4-FFF2-40B4-BE49-F238E27FC236}">
                  <a16:creationId xmlns:a16="http://schemas.microsoft.com/office/drawing/2014/main" id="{34645946-01AA-7682-E671-1306091D7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9080" y="1828800"/>
              <a:ext cx="4053840" cy="22093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 descr="A diagram of a graph&#10;&#10;Description automatically generated">
              <a:extLst>
                <a:ext uri="{FF2B5EF4-FFF2-40B4-BE49-F238E27FC236}">
                  <a16:creationId xmlns:a16="http://schemas.microsoft.com/office/drawing/2014/main" id="{AFB465A3-3421-AB0F-DB81-0E8A27FAE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22920" y="1828800"/>
              <a:ext cx="4053840" cy="22093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8A41EE-3E19-695C-21C7-F22CD0CA093C}"/>
                </a:ext>
              </a:extLst>
            </p:cNvPr>
            <p:cNvSpPr txBox="1"/>
            <p:nvPr/>
          </p:nvSpPr>
          <p:spPr>
            <a:xfrm>
              <a:off x="378460" y="4102238"/>
              <a:ext cx="3327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cs typeface="Times New Roman" panose="02020603050405020304" pitchFamily="18" charset="0"/>
                </a:rPr>
                <a:t>Case 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3C58ABD-0B16-02F1-7C0A-55F2FB6D88A0}"/>
                </a:ext>
              </a:extLst>
            </p:cNvPr>
            <p:cNvSpPr txBox="1"/>
            <p:nvPr/>
          </p:nvSpPr>
          <p:spPr>
            <a:xfrm>
              <a:off x="8486140" y="4102238"/>
              <a:ext cx="3327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cs typeface="Times New Roman" panose="02020603050405020304" pitchFamily="18" charset="0"/>
                </a:rPr>
                <a:t>Case 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CE2B49-8DA2-AC3C-07BE-B78DEA9C9331}"/>
                </a:ext>
              </a:extLst>
            </p:cNvPr>
            <p:cNvSpPr txBox="1"/>
            <p:nvPr/>
          </p:nvSpPr>
          <p:spPr>
            <a:xfrm>
              <a:off x="4432300" y="4102376"/>
              <a:ext cx="3327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cs typeface="Times New Roman" panose="02020603050405020304" pitchFamily="18" charset="0"/>
                </a:rPr>
                <a:t>Case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2282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D7334-CAA7-FA19-C7BC-96E637EA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4E46A11-697D-B7AB-6FFC-5D08E1B73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345F21-683A-E78C-3F21-61786A80D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7BADFC4-B335-C680-C42B-B26399719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F14A30-A9BA-8E71-2A4D-C375370F78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2A7933D-C17C-911D-40C7-36AAA763D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1E977A-E2E4-9635-A625-1B616D6E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Write Data Transaction</a:t>
            </a:r>
          </a:p>
        </p:txBody>
      </p:sp>
      <p:pic>
        <p:nvPicPr>
          <p:cNvPr id="4" name="Picture 3" descr="A diagram of data flow&#10;&#10;Description automatically generated with medium confidence">
            <a:extLst>
              <a:ext uri="{FF2B5EF4-FFF2-40B4-BE49-F238E27FC236}">
                <a16:creationId xmlns:a16="http://schemas.microsoft.com/office/drawing/2014/main" id="{773A6F3B-E69B-DFB6-9409-3A23D227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45" y="1649641"/>
            <a:ext cx="7772400" cy="4616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612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854F9F-55CA-E739-5208-6E37487CC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56F37FC-C4B0-1DA6-2A70-6DC703B8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369325-BAA5-B645-A043-C2BE9348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76275A-5837-06D4-A8C5-0FB23E42E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1F44B3-3EB4-78B7-FEE6-B7F5018C5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95B00F-3961-3C7A-094E-C12ADAB85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9036E5-74CA-6AC2-CA52-1C12BAD5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Read Data Transaction</a:t>
            </a:r>
          </a:p>
        </p:txBody>
      </p:sp>
      <p:pic>
        <p:nvPicPr>
          <p:cNvPr id="5" name="Picture 4" descr="A diagram of data on a yellow background&#10;&#10;Description automatically generated">
            <a:extLst>
              <a:ext uri="{FF2B5EF4-FFF2-40B4-BE49-F238E27FC236}">
                <a16:creationId xmlns:a16="http://schemas.microsoft.com/office/drawing/2014/main" id="{9220EE2A-190E-6B53-3BFF-274B33E05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20" y="1983156"/>
            <a:ext cx="8894159" cy="4100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41981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80CFB-CED6-7A86-3EA4-2EACCB9B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49AA7CB-B14A-5B6E-D680-4A7DBBEB6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B69C9C-593A-6ADB-AF39-DDC3A1AD0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949BE2-C70A-0BDD-C296-F93A3091C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AE38F9F-8DE3-E21E-F38C-010A68027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541CB3-BEA9-CBAA-F6A6-F3132373F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F8AF94-34E4-BF92-28A7-07F8B87D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Main Features of AXI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2FA30F6-782A-09C9-019A-E503C7447B14}"/>
              </a:ext>
            </a:extLst>
          </p:cNvPr>
          <p:cNvSpPr txBox="1">
            <a:spLocks/>
          </p:cNvSpPr>
          <p:nvPr/>
        </p:nvSpPr>
        <p:spPr>
          <a:xfrm>
            <a:off x="838200" y="1828800"/>
            <a:ext cx="102574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highlight>
                  <a:srgbClr val="FFFF00"/>
                </a:highlight>
              </a:rPr>
              <a:t>Independent read and write channels :</a:t>
            </a:r>
            <a:r>
              <a:rPr lang="en-US" sz="2200" dirty="0"/>
              <a:t> </a:t>
            </a:r>
            <a:r>
              <a:rPr lang="en-US" sz="1800" b="0" dirty="0">
                <a:effectLst/>
              </a:rPr>
              <a:t>Having two independent sets of channel helps to improve the bandwidth performances of the interfaces. </a:t>
            </a:r>
            <a:endParaRPr lang="en-US" sz="2200" dirty="0"/>
          </a:p>
          <a:p>
            <a:r>
              <a:rPr lang="en-US" sz="2200" dirty="0">
                <a:highlight>
                  <a:srgbClr val="FFFF00"/>
                </a:highlight>
              </a:rPr>
              <a:t>Multiple outstanding addresses :</a:t>
            </a:r>
            <a:r>
              <a:rPr lang="en-US" sz="2200" dirty="0"/>
              <a:t> </a:t>
            </a:r>
            <a:r>
              <a:rPr lang="en-US" sz="1800" dirty="0"/>
              <a:t>a</a:t>
            </a:r>
            <a:r>
              <a:rPr lang="en-US" sz="1800" b="0" dirty="0">
                <a:effectLst/>
              </a:rPr>
              <a:t> master can issue transactions without waiting for earlier transactions to complete. </a:t>
            </a:r>
            <a:endParaRPr lang="en-US" sz="2200" dirty="0"/>
          </a:p>
          <a:p>
            <a:r>
              <a:rPr lang="en-US" sz="2200" dirty="0">
                <a:highlight>
                  <a:srgbClr val="FFFF00"/>
                </a:highlight>
              </a:rPr>
              <a:t>No strict timing relationship between address and data operations :</a:t>
            </a:r>
            <a:r>
              <a:rPr lang="en-US" sz="2200" dirty="0"/>
              <a:t> </a:t>
            </a:r>
            <a:r>
              <a:rPr lang="en-US" sz="1800" b="0" dirty="0">
                <a:effectLst/>
              </a:rPr>
              <a:t>a master could issue a write address on the Write Address channel, but there is no time requirement for when the master must provide the corresponding data to write on the Write Data channel. </a:t>
            </a:r>
            <a:endParaRPr lang="en-US" sz="2200" dirty="0"/>
          </a:p>
          <a:p>
            <a:r>
              <a:rPr lang="en-US" sz="2200" dirty="0">
                <a:highlight>
                  <a:srgbClr val="FFFF00"/>
                </a:highlight>
              </a:rPr>
              <a:t>Out-of-order transaction completion :</a:t>
            </a:r>
            <a:r>
              <a:rPr lang="en-US" sz="2200" dirty="0"/>
              <a:t> </a:t>
            </a:r>
            <a:r>
              <a:rPr lang="en-US" sz="1800" b="0" dirty="0">
                <a:effectLst/>
              </a:rPr>
              <a:t>The AXI protocol includes transaction identifiers, and there is no restriction on the completion of transactions with different ID values. </a:t>
            </a:r>
            <a:endParaRPr lang="en-US" sz="2200" dirty="0"/>
          </a:p>
          <a:p>
            <a:r>
              <a:rPr lang="en-US" sz="2200" dirty="0">
                <a:highlight>
                  <a:srgbClr val="FFFF00"/>
                </a:highlight>
              </a:rPr>
              <a:t>Support for unaligned data transfers :</a:t>
            </a:r>
            <a:r>
              <a:rPr lang="en-US" sz="2200" dirty="0"/>
              <a:t> </a:t>
            </a:r>
            <a:r>
              <a:rPr lang="en-US" sz="1800" dirty="0"/>
              <a:t>T</a:t>
            </a:r>
            <a:r>
              <a:rPr lang="en-US" sz="1800" b="0" dirty="0">
                <a:effectLst/>
              </a:rPr>
              <a:t>he first bytes accessed can be unaligned with the natural address boundary. </a:t>
            </a:r>
            <a:endParaRPr lang="en-US" sz="2200" dirty="0"/>
          </a:p>
          <a:p>
            <a:r>
              <a:rPr lang="en-US" sz="2200" dirty="0">
                <a:highlight>
                  <a:srgbClr val="FFFF00"/>
                </a:highlight>
              </a:rPr>
              <a:t>Burst transactions based on start address :</a:t>
            </a:r>
            <a:r>
              <a:rPr lang="en-US" sz="2200" dirty="0"/>
              <a:t> </a:t>
            </a:r>
            <a:r>
              <a:rPr lang="en-US" sz="1800" b="0" dirty="0">
                <a:effectLst/>
              </a:rPr>
              <a:t>AXI masters only issue the starting address for the first transfer. For any following transfers, the subordinate will calculate the next transfer address based on the burst type. 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00807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14493-99EC-6BED-BC3E-76E1CC7AD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526AFE-303B-E9B6-F9DC-67CA6DF0B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FDA633-5ECD-FFDA-3A4B-E31EE4C4B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137EA6-A905-B5FC-F514-FA466673D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D49098A-C566-EC59-E6E4-1DC29FB6C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8F23B2F-9B1F-01C2-44BA-D993797D2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6FFEE2-6167-3001-815F-F1B87CA4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TB Architecture</a:t>
            </a:r>
          </a:p>
        </p:txBody>
      </p:sp>
      <p:pic>
        <p:nvPicPr>
          <p:cNvPr id="8" name="Content Placeholder 7" descr="A diagram of a computer&#10;&#10;Description automatically generated">
            <a:extLst>
              <a:ext uri="{FF2B5EF4-FFF2-40B4-BE49-F238E27FC236}">
                <a16:creationId xmlns:a16="http://schemas.microsoft.com/office/drawing/2014/main" id="{0EC967CA-6F51-C02F-9DC5-74EF48FF2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9910" y="1575461"/>
            <a:ext cx="7434469" cy="5255826"/>
          </a:xfrm>
        </p:spPr>
      </p:pic>
    </p:spTree>
    <p:extLst>
      <p:ext uri="{BB962C8B-B14F-4D97-AF65-F5344CB8AC3E}">
        <p14:creationId xmlns:p14="http://schemas.microsoft.com/office/powerpoint/2010/main" val="3593675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420CC3-CA19-3410-9C86-FABEDB0B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5346D36-58AC-AD12-8690-EF3F5A36F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72AC35-6AC1-4B1D-0822-4B415396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7E959A-A194-C49A-F9B6-3B198C23A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7B8A26-8194-2650-C023-F0F2BCD15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0DC74E9-F845-C922-34BC-86D4E028B6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CC660A-B875-A26E-4575-1FBF788CF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Test Cases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4616C1-2B95-0F35-2765-9F0499B96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872173"/>
              </p:ext>
            </p:extLst>
          </p:nvPr>
        </p:nvGraphicFramePr>
        <p:xfrm>
          <a:off x="539750" y="1673682"/>
          <a:ext cx="11112500" cy="480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125">
                  <a:extLst>
                    <a:ext uri="{9D8B030D-6E8A-4147-A177-3AD203B41FA5}">
                      <a16:colId xmlns:a16="http://schemas.microsoft.com/office/drawing/2014/main" val="1804840203"/>
                    </a:ext>
                  </a:extLst>
                </a:gridCol>
                <a:gridCol w="2287747">
                  <a:extLst>
                    <a:ext uri="{9D8B030D-6E8A-4147-A177-3AD203B41FA5}">
                      <a16:colId xmlns:a16="http://schemas.microsoft.com/office/drawing/2014/main" val="101624822"/>
                    </a:ext>
                  </a:extLst>
                </a:gridCol>
                <a:gridCol w="3742362">
                  <a:extLst>
                    <a:ext uri="{9D8B030D-6E8A-4147-A177-3AD203B41FA5}">
                      <a16:colId xmlns:a16="http://schemas.microsoft.com/office/drawing/2014/main" val="2603108442"/>
                    </a:ext>
                  </a:extLst>
                </a:gridCol>
                <a:gridCol w="2304266">
                  <a:extLst>
                    <a:ext uri="{9D8B030D-6E8A-4147-A177-3AD203B41FA5}">
                      <a16:colId xmlns:a16="http://schemas.microsoft.com/office/drawing/2014/main" val="3720502443"/>
                    </a:ext>
                  </a:extLst>
                </a:gridCol>
              </a:tblGrid>
              <a:tr h="396884">
                <a:tc>
                  <a:txBody>
                    <a:bodyPr/>
                    <a:lstStyle/>
                    <a:p>
                      <a:r>
                        <a:rPr lang="en-US" b="0" dirty="0"/>
                        <a:t>Transaction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90590"/>
                  </a:ext>
                </a:extLst>
              </a:tr>
              <a:tr h="978618">
                <a:tc>
                  <a:txBody>
                    <a:bodyPr/>
                    <a:lstStyle/>
                    <a:p>
                      <a:r>
                        <a:rPr lang="en-US" dirty="0"/>
                        <a:t>Fixed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AxBURST</a:t>
                      </a:r>
                      <a:r>
                        <a:rPr lang="en-US" dirty="0"/>
                        <a:t> == 2’b00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Unaligned address. Writing to and Reading from the same location for each transfer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2544282"/>
                  </a:ext>
                </a:extLst>
              </a:tr>
              <a:tr h="1565788">
                <a:tc>
                  <a:txBody>
                    <a:bodyPr/>
                    <a:lstStyle/>
                    <a:p>
                      <a:r>
                        <a:rPr lang="en-US" dirty="0"/>
                        <a:t>Increment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AxBURST</a:t>
                      </a:r>
                      <a:r>
                        <a:rPr lang="en-US" dirty="0"/>
                        <a:t> == 2’b01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Unaligned address. The first transfer is written/read at the start address. Consecutively at aligned addresses as calculated by slave.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Sequential Memory Access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022820"/>
                  </a:ext>
                </a:extLst>
              </a:tr>
              <a:tr h="1859374">
                <a:tc>
                  <a:txBody>
                    <a:bodyPr/>
                    <a:lstStyle/>
                    <a:p>
                      <a:r>
                        <a:rPr lang="en-US" dirty="0"/>
                        <a:t>Wrap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AxBURST</a:t>
                      </a:r>
                      <a:r>
                        <a:rPr lang="en-US" dirty="0"/>
                        <a:t> == 2’b10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to Increment Transaction. But upon reaching a upper address boundary limit, the address to write/read from wraps around to a boundary called wrap boundary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Cache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17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266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D8FCF-5918-4CBA-DC87-CFB796A22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ADE3D05-76DD-0BD8-D73C-F097FEFC6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62EDA4-E483-3576-934D-EFBF2605C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420E6E-F48C-37F1-0EFF-376579CE1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CEE5B6-CB18-E9FE-3C9F-3032BFBB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1E6DC2-AFBE-2F53-477A-A5859FF08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F8AF31-21B8-1D44-71E7-FBA1B367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Waveform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C942CD07-E79E-F57B-2E64-44BF730AF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90" y="1575461"/>
            <a:ext cx="11433219" cy="52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21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775A8-6A59-57E1-F1A5-35BD39F7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22F0F35-1929-5A30-AEC0-6C9ECF2B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8716DCE-61B0-584B-615A-FB7BCFA2C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79D282-516E-EFDE-EC34-18D483819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55D1E0-F95D-EED4-3752-CDF213A64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08B1D6-BE23-8650-84BE-94A7E730A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0408FE-05E6-9D3A-1B9D-3B874609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Coverage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7B6A58-38D3-5EE0-177E-05DBFA375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647812"/>
              </p:ext>
            </p:extLst>
          </p:nvPr>
        </p:nvGraphicFramePr>
        <p:xfrm>
          <a:off x="1024146" y="1850297"/>
          <a:ext cx="4952999" cy="4564770"/>
        </p:xfrm>
        <a:graphic>
          <a:graphicData uri="http://schemas.openxmlformats.org/drawingml/2006/table">
            <a:tbl>
              <a:tblPr/>
              <a:tblGrid>
                <a:gridCol w="1299999">
                  <a:extLst>
                    <a:ext uri="{9D8B030D-6E8A-4147-A177-3AD203B41FA5}">
                      <a16:colId xmlns:a16="http://schemas.microsoft.com/office/drawing/2014/main" val="1641853629"/>
                    </a:ext>
                  </a:extLst>
                </a:gridCol>
                <a:gridCol w="1299999">
                  <a:extLst>
                    <a:ext uri="{9D8B030D-6E8A-4147-A177-3AD203B41FA5}">
                      <a16:colId xmlns:a16="http://schemas.microsoft.com/office/drawing/2014/main" val="4288117720"/>
                    </a:ext>
                  </a:extLst>
                </a:gridCol>
                <a:gridCol w="2353001">
                  <a:extLst>
                    <a:ext uri="{9D8B030D-6E8A-4147-A177-3AD203B41FA5}">
                      <a16:colId xmlns:a16="http://schemas.microsoft.com/office/drawing/2014/main" val="843390040"/>
                    </a:ext>
                  </a:extLst>
                </a:gridCol>
              </a:tblGrid>
              <a:tr h="186032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effectLst/>
                        </a:rPr>
                        <a:t>WTX_COV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887203"/>
                  </a:ext>
                </a:extLst>
              </a:tr>
              <a:tr h="34937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effectLst/>
                        </a:rPr>
                        <a:t>Cover variable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dirty="0">
                          <a:effectLst/>
                        </a:rPr>
                        <a:t>Bins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Values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854966"/>
                  </a:ext>
                </a:extLst>
              </a:tr>
              <a:tr h="18603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wr_adress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lower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32'd0 - 32'd2047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643256"/>
                  </a:ext>
                </a:extLst>
              </a:tr>
              <a:tr h="349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higher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32'd2048 - 32'd4098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267591"/>
                  </a:ext>
                </a:extLst>
              </a:tr>
              <a:tr h="1860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wr_length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small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0 - 4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770657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medium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dirty="0">
                          <a:effectLst/>
                        </a:rPr>
                        <a:t>5 - 10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526061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large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11 - 15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25472"/>
                  </a:ext>
                </a:extLst>
              </a:tr>
              <a:tr h="1860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wr_burst_size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0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628924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2_byte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181678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4_byte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dirty="0">
                          <a:effectLst/>
                        </a:rPr>
                        <a:t>2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017956"/>
                  </a:ext>
                </a:extLst>
              </a:tr>
              <a:tr h="343647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wr_burst_type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fixed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0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811229"/>
                  </a:ext>
                </a:extLst>
              </a:tr>
              <a:tr h="349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increment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998911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wrap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2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270154"/>
                  </a:ext>
                </a:extLst>
              </a:tr>
              <a:tr h="34937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wr_data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lower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32'd0 - 32'h7fff_ffff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59238"/>
                  </a:ext>
                </a:extLst>
              </a:tr>
              <a:tr h="3493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higher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32'h8000_0000 - 32'hffff_ffff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184467"/>
                  </a:ext>
                </a:extLst>
              </a:tr>
              <a:tr h="18603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wr_strb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1,2,4,8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998376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2_byte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3,12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472505"/>
                  </a:ext>
                </a:extLst>
              </a:tr>
              <a:tr h="1860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4_byte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15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476555"/>
                  </a:ext>
                </a:extLst>
              </a:tr>
              <a:tr h="18603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>
                          <a:effectLst/>
                        </a:rPr>
                        <a:t>wr_resp</a:t>
                      </a:r>
                    </a:p>
                  </a:txBody>
                  <a:tcPr marL="17015" marR="17015" marT="11343" marB="1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>
                          <a:effectLst/>
                        </a:rPr>
                        <a:t>okay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dirty="0">
                          <a:effectLst/>
                        </a:rPr>
                        <a:t>0</a:t>
                      </a:r>
                    </a:p>
                  </a:txBody>
                  <a:tcPr marL="17015" marR="17015" marT="11343" marB="1134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626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0C09758-0981-E118-5962-B9C49DA98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960741"/>
              </p:ext>
            </p:extLst>
          </p:nvPr>
        </p:nvGraphicFramePr>
        <p:xfrm>
          <a:off x="6323228" y="1850297"/>
          <a:ext cx="4772401" cy="4383710"/>
        </p:xfrm>
        <a:graphic>
          <a:graphicData uri="http://schemas.openxmlformats.org/drawingml/2006/table">
            <a:tbl>
              <a:tblPr/>
              <a:tblGrid>
                <a:gridCol w="1286361">
                  <a:extLst>
                    <a:ext uri="{9D8B030D-6E8A-4147-A177-3AD203B41FA5}">
                      <a16:colId xmlns:a16="http://schemas.microsoft.com/office/drawing/2014/main" val="2226437930"/>
                    </a:ext>
                  </a:extLst>
                </a:gridCol>
                <a:gridCol w="1286361">
                  <a:extLst>
                    <a:ext uri="{9D8B030D-6E8A-4147-A177-3AD203B41FA5}">
                      <a16:colId xmlns:a16="http://schemas.microsoft.com/office/drawing/2014/main" val="661530990"/>
                    </a:ext>
                  </a:extLst>
                </a:gridCol>
                <a:gridCol w="2199679">
                  <a:extLst>
                    <a:ext uri="{9D8B030D-6E8A-4147-A177-3AD203B41FA5}">
                      <a16:colId xmlns:a16="http://schemas.microsoft.com/office/drawing/2014/main" val="2368092077"/>
                    </a:ext>
                  </a:extLst>
                </a:gridCol>
              </a:tblGrid>
              <a:tr h="204593">
                <a:tc gridSpan="3">
                  <a:txBody>
                    <a:bodyPr/>
                    <a:lstStyle/>
                    <a:p>
                      <a:pPr algn="ctr" rtl="0" fontAlgn="b"/>
                      <a:r>
                        <a:rPr lang="en-US" sz="1200">
                          <a:effectLst/>
                        </a:rPr>
                        <a:t>RTX_COV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792009"/>
                  </a:ext>
                </a:extLst>
              </a:tr>
              <a:tr h="38423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dirty="0">
                          <a:effectLst/>
                        </a:rPr>
                        <a:t>Cover variable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Bins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Values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484729"/>
                  </a:ext>
                </a:extLst>
              </a:tr>
              <a:tr h="38423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rd_adress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lower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32'd0 - 32'd2047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786243"/>
                  </a:ext>
                </a:extLst>
              </a:tr>
              <a:tr h="384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higher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32'd2048 - 32'd4098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291067"/>
                  </a:ext>
                </a:extLst>
              </a:tr>
              <a:tr h="20459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rd_length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small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0 - 4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20979"/>
                  </a:ext>
                </a:extLst>
              </a:tr>
              <a:tr h="20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medium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5 - 10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214389"/>
                  </a:ext>
                </a:extLst>
              </a:tr>
              <a:tr h="20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large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11 - 15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493709"/>
                  </a:ext>
                </a:extLst>
              </a:tr>
              <a:tr h="20459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rd_burst_size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1_byte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807002"/>
                  </a:ext>
                </a:extLst>
              </a:tr>
              <a:tr h="20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2_byte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52573"/>
                  </a:ext>
                </a:extLst>
              </a:tr>
              <a:tr h="20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4_byte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633505"/>
                  </a:ext>
                </a:extLst>
              </a:tr>
              <a:tr h="20459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rd_burst_type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fixed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957433"/>
                  </a:ext>
                </a:extLst>
              </a:tr>
              <a:tr h="384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increment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663881"/>
                  </a:ext>
                </a:extLst>
              </a:tr>
              <a:tr h="204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wrap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133030"/>
                  </a:ext>
                </a:extLst>
              </a:tr>
              <a:tr h="38423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rd_data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lower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32'd0 - 32'h7fff_ffff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29305"/>
                  </a:ext>
                </a:extLst>
              </a:tr>
              <a:tr h="3842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higher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32'h8000_0000 - 32'hffff_ffff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300400"/>
                  </a:ext>
                </a:extLst>
              </a:tr>
              <a:tr h="2045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>
                          <a:effectLst/>
                        </a:rPr>
                        <a:t>rd_resp</a:t>
                      </a:r>
                    </a:p>
                  </a:txBody>
                  <a:tcPr marL="18713" marR="18713" marT="12475" marB="124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>
                          <a:effectLst/>
                        </a:rPr>
                        <a:t>okay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marL="18713" marR="18713" marT="12475" marB="1247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218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06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39EE6-A883-0899-5E0D-0AED8EC2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777EB0F-1629-C4F3-C3E1-49DF07E74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38AC04-92C7-68A4-9528-85F61170B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F315AC9-7178-2BC4-763C-05B3D69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3FDF66-0335-A295-F90D-D8B65A506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C25D02D-4BDA-638A-61FF-B4375C2ED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B4A0E3-3C04-9F37-C17C-CB24CAF80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Coverage Model</a:t>
            </a:r>
          </a:p>
        </p:txBody>
      </p:sp>
      <p:pic>
        <p:nvPicPr>
          <p:cNvPr id="6" name="Picture 5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005ADCDE-BBEA-945E-6AB8-FF6EE6E0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80" y="1948518"/>
            <a:ext cx="10920469" cy="296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84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3D8A1-E1C3-ED5D-A205-13442D877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0A1DE8-2610-413B-E672-186C4D2AA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7F014F-FDFB-EE02-C918-4BFD9039C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A99D403-12D1-B551-B046-9731ADA94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D9F900-6720-533F-E789-D401A50B2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E59-7FE4-EACB-FB9C-4C44F3177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2AA687-A472-F633-A8C7-021285A1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Assertions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5B37C8-58C5-EFE1-0545-D2C551E5A25D}"/>
              </a:ext>
            </a:extLst>
          </p:cNvPr>
          <p:cNvSpPr txBox="1">
            <a:spLocks/>
          </p:cNvSpPr>
          <p:nvPr/>
        </p:nvSpPr>
        <p:spPr>
          <a:xfrm>
            <a:off x="838200" y="1828800"/>
            <a:ext cx="102574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Handshake mechanism, Once Valid and Ready are asserted, then at least one of them should be de-asserted in the next clock cycle. </a:t>
            </a:r>
          </a:p>
          <a:p>
            <a:endParaRPr lang="en-US" sz="2200" dirty="0"/>
          </a:p>
          <a:p>
            <a:r>
              <a:rPr lang="en-US" sz="2200" dirty="0"/>
              <a:t>The slave must wait for AWVALID, AWREADY, WVALID and WREADY to be asserted before asserting BVALID.</a:t>
            </a:r>
          </a:p>
          <a:p>
            <a:endParaRPr lang="en-US" sz="2200" dirty="0"/>
          </a:p>
          <a:p>
            <a:r>
              <a:rPr lang="en-US" sz="2200" dirty="0"/>
              <a:t>The slave must wait for the last write data transfer before asserting BVALID.</a:t>
            </a:r>
          </a:p>
          <a:p>
            <a:endParaRPr lang="en-US" sz="2200" dirty="0"/>
          </a:p>
          <a:p>
            <a:r>
              <a:rPr lang="en-US" sz="2200" dirty="0"/>
              <a:t>The slave must wait for both ARVALID and  ARREADY  before asserting RVALID to indicate that valid data is available in the Read Data Channel.</a:t>
            </a:r>
          </a:p>
        </p:txBody>
      </p:sp>
    </p:spTree>
    <p:extLst>
      <p:ext uri="{BB962C8B-B14F-4D97-AF65-F5344CB8AC3E}">
        <p14:creationId xmlns:p14="http://schemas.microsoft.com/office/powerpoint/2010/main" val="394353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FA9E70-0117-8748-013D-85168A74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A544617-EA90-DA68-E75A-5064B1BAB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E985D3-7B70-49DA-2DE8-B07B92E39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2CD3449-2367-C3BC-B645-AED1DBC39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AC6739E-6BD8-6810-5D99-52E47A5EB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0C22BB-8C45-D0D4-2B60-D24A1A688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B9FECC-41E9-DA4C-3111-E69BE1F8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Assertions Coverage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458C5C4-AC5A-E85F-407F-D4A0D5022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007" y="1736893"/>
            <a:ext cx="9863985" cy="420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98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3DDB-224A-BA04-5C68-360EBD17D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8800"/>
            <a:ext cx="10515600" cy="56181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630248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CB563-8EB3-D9E6-0BF3-17825228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B819F17-ED45-691C-CEC8-DE8C0315C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21D42B-6405-6047-C9C1-66DA9A4D7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EF5BBC6-3CD6-C19A-9E2D-102B0F339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FE4D50A-237F-8D8A-D7E9-80EA70B2F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735C7E1-52BD-1B8E-05EF-B52A16573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7BFF63-3E99-9FCD-8C78-9EA714F4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Coverage Model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258C653-4441-9A07-2445-71EC40A1A901}"/>
              </a:ext>
            </a:extLst>
          </p:cNvPr>
          <p:cNvGrpSpPr/>
          <p:nvPr/>
        </p:nvGrpSpPr>
        <p:grpSpPr>
          <a:xfrm>
            <a:off x="0" y="2115852"/>
            <a:ext cx="12192000" cy="4005548"/>
            <a:chOff x="143288" y="2115852"/>
            <a:chExt cx="11615864" cy="3592161"/>
          </a:xfrm>
        </p:grpSpPr>
        <p:pic>
          <p:nvPicPr>
            <p:cNvPr id="6" name="Picture 5" descr="A pie chart with text&#10;&#10;Description automatically generated">
              <a:extLst>
                <a:ext uri="{FF2B5EF4-FFF2-40B4-BE49-F238E27FC236}">
                  <a16:creationId xmlns:a16="http://schemas.microsoft.com/office/drawing/2014/main" id="{C77F9A4A-0139-F19C-598B-B4EFB00CA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288" y="2115852"/>
              <a:ext cx="5809424" cy="35921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 descr="A pie chart with numbers and a circle&#10;&#10;Description automatically generated with medium confidence">
              <a:extLst>
                <a:ext uri="{FF2B5EF4-FFF2-40B4-BE49-F238E27FC236}">
                  <a16:creationId xmlns:a16="http://schemas.microsoft.com/office/drawing/2014/main" id="{A87ACF2C-8676-93E4-7B8E-FC7AA6722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2712" y="2115853"/>
              <a:ext cx="5806440" cy="359031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059041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708</Words>
  <Application>Microsoft Macintosh PowerPoint</Application>
  <PresentationFormat>Widescreen</PresentationFormat>
  <Paragraphs>142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AXI VIP</vt:lpstr>
      <vt:lpstr>Introduction to AXI Protocol</vt:lpstr>
      <vt:lpstr>Handshake Mechanism</vt:lpstr>
      <vt:lpstr>Write Data Transaction</vt:lpstr>
      <vt:lpstr>Read Data Transaction</vt:lpstr>
      <vt:lpstr>Main Features of AXI</vt:lpstr>
      <vt:lpstr>TB Architecture</vt:lpstr>
      <vt:lpstr>Test Cases</vt:lpstr>
      <vt:lpstr>Waveform</vt:lpstr>
      <vt:lpstr>Coverage Model</vt:lpstr>
      <vt:lpstr>Coverage Model</vt:lpstr>
      <vt:lpstr>Assertions</vt:lpstr>
      <vt:lpstr>Assertions Coverage</vt:lpstr>
      <vt:lpstr>PowerPoint Presentation</vt:lpstr>
      <vt:lpstr>Coverage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HANEESH KUMAR D_1DB21EC050</dc:creator>
  <cp:lastModifiedBy>HANEESH KUMAR D_1DB21EC050</cp:lastModifiedBy>
  <cp:revision>19</cp:revision>
  <dcterms:created xsi:type="dcterms:W3CDTF">2026-05-03T13:51:25Z</dcterms:created>
  <dcterms:modified xsi:type="dcterms:W3CDTF">2026-05-04T04:53:27Z</dcterms:modified>
</cp:coreProperties>
</file>